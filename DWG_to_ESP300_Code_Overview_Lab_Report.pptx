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ad5d1e34e14642" /><Relationship Type="http://schemas.openxmlformats.org/officeDocument/2006/relationships/extended-properties" Target="/docProps/app.xml" Id="Ref52c962ca044191" /><Relationship Type="http://schemas.openxmlformats.org/officeDocument/2006/relationships/officeDocument" Target="/ppt/presentation.xml" Id="R61a1755da59b4f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39386430d46b7"/>
  </p:sldMasterIdLst>
  <p:notesMasterIdLst>
    <p:notesMasterId xmlns:r="http://schemas.openxmlformats.org/officeDocument/2006/relationships" r:id="Ra06c2462ae6248af"/>
  </p:notesMasterIdLst>
  <p:sldIdLst>
    <p:sldId xmlns:r="http://schemas.openxmlformats.org/officeDocument/2006/relationships" id="256" r:id="Re04782f2eb284a3b"/>
    <p:sldId xmlns:r="http://schemas.openxmlformats.org/officeDocument/2006/relationships" id="257" r:id="Rae9544c096a54d90"/>
    <p:sldId xmlns:r="http://schemas.openxmlformats.org/officeDocument/2006/relationships" id="258" r:id="R1f097d157d0543cf"/>
    <p:sldId xmlns:r="http://schemas.openxmlformats.org/officeDocument/2006/relationships" id="259" r:id="R80ca6770f67e4218"/>
    <p:sldId xmlns:r="http://schemas.openxmlformats.org/officeDocument/2006/relationships" id="260" r:id="R78eb9d7a072c4f75"/>
    <p:sldId xmlns:r="http://schemas.openxmlformats.org/officeDocument/2006/relationships" id="261" r:id="R2d36c79c4e9e4ad2"/>
    <p:sldId xmlns:r="http://schemas.openxmlformats.org/officeDocument/2006/relationships" id="262" r:id="Rfd44621aa80b4db3"/>
    <p:sldId xmlns:r="http://schemas.openxmlformats.org/officeDocument/2006/relationships" id="263" r:id="Rb597309fd437458d"/>
    <p:sldId xmlns:r="http://schemas.openxmlformats.org/officeDocument/2006/relationships" id="264" r:id="R39ee12ee95294dab"/>
    <p:sldId xmlns:r="http://schemas.openxmlformats.org/officeDocument/2006/relationships" id="265" r:id="R3f7bc4309d104b53"/>
    <p:sldId xmlns:r="http://schemas.openxmlformats.org/officeDocument/2006/relationships" id="266" r:id="R5f77dcb3ff594f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3307a3e06a4701" /><Relationship Type="http://schemas.openxmlformats.org/officeDocument/2006/relationships/slideMaster" Target="/ppt/slideMasters/slideMaster1.xml" Id="Rd8239386430d46b7" /><Relationship Type="http://schemas.openxmlformats.org/officeDocument/2006/relationships/notesMaster" Target="/ppt/notesMasters/notesMaster1.xml" Id="Ra06c2462ae6248af" /><Relationship Type="http://schemas.openxmlformats.org/officeDocument/2006/relationships/presProps" Target="/ppt/presProps.xml" Id="Rf19cdf7bc9314d45" /><Relationship Type="http://schemas.openxmlformats.org/officeDocument/2006/relationships/tableStyles" Target="/ppt/tableStyles.xml" Id="R93645cc8ffba4ae0" /><Relationship Type="http://schemas.openxmlformats.org/officeDocument/2006/relationships/slide" Target="/ppt/slides/slide1.xml" Id="Re04782f2eb284a3b" /><Relationship Type="http://schemas.openxmlformats.org/officeDocument/2006/relationships/slide" Target="/ppt/slides/slide2.xml" Id="Rae9544c096a54d90" /><Relationship Type="http://schemas.openxmlformats.org/officeDocument/2006/relationships/slide" Target="/ppt/slides/slide3.xml" Id="R1f097d157d0543cf" /><Relationship Type="http://schemas.openxmlformats.org/officeDocument/2006/relationships/slide" Target="/ppt/slides/slide4.xml" Id="R80ca6770f67e4218" /><Relationship Type="http://schemas.openxmlformats.org/officeDocument/2006/relationships/slide" Target="/ppt/slides/slide5.xml" Id="R78eb9d7a072c4f75" /><Relationship Type="http://schemas.openxmlformats.org/officeDocument/2006/relationships/slide" Target="/ppt/slides/slide6.xml" Id="R2d36c79c4e9e4ad2" /><Relationship Type="http://schemas.openxmlformats.org/officeDocument/2006/relationships/slide" Target="/ppt/slides/slide7.xml" Id="Rfd44621aa80b4db3" /><Relationship Type="http://schemas.openxmlformats.org/officeDocument/2006/relationships/slide" Target="/ppt/slides/slide8.xml" Id="Rb597309fd437458d" /><Relationship Type="http://schemas.openxmlformats.org/officeDocument/2006/relationships/slide" Target="/ppt/slides/slide9.xml" Id="R39ee12ee95294dab" /><Relationship Type="http://schemas.openxmlformats.org/officeDocument/2006/relationships/slide" Target="/ppt/slides/slide10.xml" Id="R3f7bc4309d104b53" /><Relationship Type="http://schemas.openxmlformats.org/officeDocument/2006/relationships/slide" Target="/ppt/slides/slide11.xml" Id="R5f77dcb3ff594f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18f6845dc0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99799175948f2" /><Relationship Type="http://schemas.openxmlformats.org/officeDocument/2006/relationships/notesMaster" Target="/ppt/notesMasters/notesMaster1.xml" Id="R92ebfbf1569e4f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ae16d9d1c4352" /><Relationship Type="http://schemas.openxmlformats.org/officeDocument/2006/relationships/notesMaster" Target="/ppt/notesMasters/notesMaster1.xml" Id="R9ec37a6e76eb40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190e83cf3f4dbd" /><Relationship Type="http://schemas.openxmlformats.org/officeDocument/2006/relationships/notesMaster" Target="/ppt/notesMasters/notesMaster1.xml" Id="R6af17f62a8604c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01bf0120d4e7c" /><Relationship Type="http://schemas.openxmlformats.org/officeDocument/2006/relationships/notesMaster" Target="/ppt/notesMasters/notesMaster1.xml" Id="R6bc92bba724745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ad8b1586cd4ff7" /><Relationship Type="http://schemas.openxmlformats.org/officeDocument/2006/relationships/notesMaster" Target="/ppt/notesMasters/notesMaster1.xml" Id="Rb1a4cdca5dec41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dd5edb75554320" /><Relationship Type="http://schemas.openxmlformats.org/officeDocument/2006/relationships/notesMaster" Target="/ppt/notesMasters/notesMaster1.xml" Id="Rf1098ecbc5a448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4b5f9136aa4e3b" /><Relationship Type="http://schemas.openxmlformats.org/officeDocument/2006/relationships/notesMaster" Target="/ppt/notesMasters/notesMaster1.xml" Id="Rb61eba1b3b0047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8e4955a0d64aba" /><Relationship Type="http://schemas.openxmlformats.org/officeDocument/2006/relationships/notesMaster" Target="/ppt/notesMasters/notesMaster1.xml" Id="R7f39208083d24d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226c10caef451a" /><Relationship Type="http://schemas.openxmlformats.org/officeDocument/2006/relationships/notesMaster" Target="/ppt/notesMasters/notesMaster1.xml" Id="Ra66fb37222c540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edbae6c7844540" /><Relationship Type="http://schemas.openxmlformats.org/officeDocument/2006/relationships/notesMaster" Target="/ppt/notesMasters/notesMaster1.xml" Id="Rb89ef45baa5147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17ecc44d8c4512" /><Relationship Type="http://schemas.openxmlformats.org/officeDocument/2006/relationships/notesMaster" Target="/ppt/notesMasters/notesMaster1.xml" Id="R3485efa818084b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dwg_to_esp300.py</a:t>
            </a:r>
          </a:p>
          <a:p xmlns:a="http://schemas.openxmlformats.org/drawingml/2006/main">
            <a:r>
              <a:t>- visualizer_server.py</a:t>
            </a:r>
          </a:p>
          <a:p xmlns:a="http://schemas.openxmlformats.org/drawingml/2006/main">
            <a:r>
              <a:t>- visualizer/app.js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dwg_to_esp300.py lines 1311-1368</a:t>
            </a:r>
          </a:p>
          <a:p xmlns:a="http://schemas.openxmlformats.org/drawingml/2006/main">
            <a:r>
              <a:t>- visualizer_server.py lines 135-145</a:t>
            </a:r>
          </a:p>
          <a:p xmlns:a="http://schemas.openxmlformats.org/drawingml/2006/main">
            <a:r>
              <a:t>- visualizer/app.js lines 622-650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REVIEW_PACKAGE_README.txt</a:t>
            </a:r>
          </a:p>
          <a:p xmlns:a="http://schemas.openxmlformats.org/drawingml/2006/main">
            <a:r>
              <a:t>- visualizer_server.py lines 739-895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dwg_to_esp300.py lines 205-318</a:t>
            </a:r>
          </a:p>
          <a:p xmlns:a="http://schemas.openxmlformats.org/drawingml/2006/main">
            <a:r>
              <a:t>- dwg_to_esp300.py lines 324-406</a:t>
            </a:r>
          </a:p>
          <a:p xmlns:a="http://schemas.openxmlformats.org/drawingml/2006/main">
            <a:r>
              <a:t>- dwg_to_esp300.py lines 1317-1336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dwg_to_esp300.py lines 421-550</a:t>
            </a:r>
          </a:p>
          <a:p xmlns:a="http://schemas.openxmlformats.org/drawingml/2006/main">
            <a:r>
              <a:t>- visualizer_server.py lines 407-473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visualizer_server.py lines 368-418</a:t>
            </a:r>
          </a:p>
          <a:p xmlns:a="http://schemas.openxmlformats.org/drawingml/2006/main">
            <a:r>
              <a:t>- dwg_to_esp300.py lines 851-856</a:t>
            </a:r>
          </a:p>
          <a:p xmlns:a="http://schemas.openxmlformats.org/drawingml/2006/main">
            <a:r>
              <a:t>- dwg_to_esp300.py lines 979-996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dwg_to_esp300.py lines 610-632</a:t>
            </a:r>
          </a:p>
          <a:p xmlns:a="http://schemas.openxmlformats.org/drawingml/2006/main">
            <a:r>
              <a:t>- dwg_to_esp300.py lines 733-818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dwg_to_esp300.py lines 925-959</a:t>
            </a:r>
          </a:p>
          <a:p xmlns:a="http://schemas.openxmlformats.org/drawingml/2006/main">
            <a:r>
              <a:t>- dwg_to_esp300.py lines 624-627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visualizer_server.py lines 231-327</a:t>
            </a:r>
          </a:p>
          <a:p xmlns:a="http://schemas.openxmlformats.org/drawingml/2006/main">
            <a:r>
              <a:t>- dwg_to_esp300.py lines 859-923</a:t>
            </a:r>
          </a:p>
          <a:p xmlns:a="http://schemas.openxmlformats.org/drawingml/2006/main">
            <a:r>
              <a:t>- dwg_to_esp300.py lines 963-976</a:t>
            </a:r>
          </a:p>
          <a:p xmlns:a="http://schemas.openxmlformats.org/drawingml/2006/main">
            <a:r>
              <a:t>- dwg_to_esp300.py lines 1021-1034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visualizer/app.js lines 109-120</a:t>
            </a:r>
          </a:p>
          <a:p xmlns:a="http://schemas.openxmlformats.org/drawingml/2006/main">
            <a:r>
              <a:t>- visualizer/app.js lines 321-370</a:t>
            </a:r>
          </a:p>
          <a:p xmlns:a="http://schemas.openxmlformats.org/drawingml/2006/main">
            <a:r>
              <a:t>- visualizer/app.js lines 488-930</a:t>
            </a:r>
          </a:p>
          <a:p xmlns:a="http://schemas.openxmlformats.org/drawingml/2006/main">
            <a:r>
              <a:t>- visualizer_server.py lines 778-895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REVIEW_PACKAGE_README.txt</a:t>
            </a:r>
          </a:p>
          <a:p xmlns:a="http://schemas.openxmlformats.org/drawingml/2006/main">
            <a:r>
              <a:t>- dwg_to_esp300.py</a:t>
            </a:r>
          </a:p>
          <a:p xmlns:a="http://schemas.openxmlformats.org/drawingml/2006/main">
            <a:r>
              <a:t>- visualizer_server.py</a:t>
            </a:r>
          </a:p>
          <a:p xmlns:a="http://schemas.openxmlformats.org/drawingml/2006/main">
            <a:r>
              <a:t>- visualizer/app.js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a0115989445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7e4bc639274365" /><Relationship Type="http://schemas.openxmlformats.org/officeDocument/2006/relationships/slideLayout" Target="/ppt/slideLayouts/slideLayout1.xml" Id="R119e9c4aebe844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9e9c4aebe844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10225360a483a" /><Relationship Type="http://schemas.openxmlformats.org/officeDocument/2006/relationships/notesSlide" Target="/ppt/notesSlides/notesSlide1.xml" Id="R2c762b8ab036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36765feca4442" /><Relationship Type="http://schemas.openxmlformats.org/officeDocument/2006/relationships/notesSlide" Target="/ppt/notesSlides/notesSlide2.xml" Id="Ra8f318fae57a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52579ebe44cb5" /><Relationship Type="http://schemas.openxmlformats.org/officeDocument/2006/relationships/notesSlide" Target="/ppt/notesSlides/notesSlide3.xml" Id="R357583f25033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b144533e44338" /><Relationship Type="http://schemas.openxmlformats.org/officeDocument/2006/relationships/notesSlide" Target="/ppt/notesSlides/notesSlide4.xml" Id="Re078ec9c8c0642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18096bb7a4eb8" /><Relationship Type="http://schemas.openxmlformats.org/officeDocument/2006/relationships/notesSlide" Target="/ppt/notesSlides/notesSlide5.xml" Id="R933e1ad8bac04d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b8236580f4d71" /><Relationship Type="http://schemas.openxmlformats.org/officeDocument/2006/relationships/notesSlide" Target="/ppt/notesSlides/notesSlide6.xml" Id="R76abf267ae5d47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72d2b9884497a" /><Relationship Type="http://schemas.openxmlformats.org/officeDocument/2006/relationships/notesSlide" Target="/ppt/notesSlides/notesSlide7.xml" Id="R99aefd4820614c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3c0b7c664428b" /><Relationship Type="http://schemas.openxmlformats.org/officeDocument/2006/relationships/notesSlide" Target="/ppt/notesSlides/notesSlide8.xml" Id="R65b69ed95d964d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48f032db340f9" /><Relationship Type="http://schemas.openxmlformats.org/officeDocument/2006/relationships/notesSlide" Target="/ppt/notesSlides/notesSlide9.xml" Id="R3c929b244b774a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5be0e8c4458a" /><Relationship Type="http://schemas.openxmlformats.org/officeDocument/2006/relationships/notesSlide" Target="/ppt/notesSlides/notesSlide10.xml" Id="R8505deda4aef4c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7e3d2d5df42c8" /><Relationship Type="http://schemas.openxmlformats.org/officeDocument/2006/relationships/notesSlide" Target="/ppt/notesSlides/notesSlide11.xml" Id="Recc8771f1ac648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D01CE767-6455-475B-9EAC-0BF93B18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DWG to ESP300 코드 개요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AF00FBA-F1F1-46F4-8B2A-B2BAC30D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연구실 보고서 형식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2977291-34E8-4B6B-ADD4-8C1C7C2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목적: CAD 도면을 ESP300 X/Y/Z 스테이지 구동 코드로 변환한다.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대상 장비: 25 mm x 25 mm 유리판이 움직이는 샘플 스테이지, 고정된 레이저 조사부.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주요 산출물: Python 실행 코드, Jupyter notebook, SVG preview, 브라우저 2D/3D visualizer.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본 슬라이드는 코드 구조와 실험 전 확인해야 할 동기화/초점 로직을 요약한다.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BD4A1A-8FBE-42B9-B786-58F8ECA5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1/11</a:t>
            </a:r>
          </a:p>
        </p:txBody>
      </p:sp>
    </p:spTree>
    <p:extLst>
      <p:ext uri="{BB962C8B-B14F-4D97-AF65-F5344CB8AC3E}">
        <p14:creationId xmlns:p14="http://schemas.microsoft.com/office/powerpoint/2010/main" val="233750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438E7B-26B4-40C3-9C1A-D4454416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실험 장치 전제를 코드에 고정했다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C76D45-D838-4AAF-8E7A-8B947B0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51BBEF7-BD38-4D9D-97BF-05384A4C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유리판 크기는 25 mm x 25 mm로 취급한다.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사용 가능 영역은 중앙 원형 영역이며, 기본 지름은 25 mm이다.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좌표 시작점은 유리판 중심, 즉 (12.5 mm, 12.5 mm)이다.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레이저는 고정되어 있고 실제 이동 대상은 유리판/스테이지이다.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기본 laser_on()/laser_off()는 출력문이며, TTL 제어 명령은 별도 입력 가능하다.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64296A4-EC9D-4294-958A-45FDFB4A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2/11</a:t>
            </a:r>
          </a:p>
        </p:txBody>
      </p:sp>
    </p:spTree>
    <p:extLst>
      <p:ext uri="{BB962C8B-B14F-4D97-AF65-F5344CB8AC3E}">
        <p14:creationId xmlns:p14="http://schemas.microsoft.com/office/powerpoint/2010/main" val="651215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CA0C23-0FE0-40AA-B604-7ED7BDFB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파일 구성은 변환, 서버, UI, 산출물로 나뉜다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77D8B8E-4BF6-4098-87A7-D1E684F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737E5D69-B1BE-4CE4-B8AF-1EAD134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Core files</a:t>
            </a:r>
          </a:p>
        </p:txBody>
      </p:sp>
      <p:sp>
        <p:nvSpPr>
          <p:cNvPr id="4" name="left-body">
            <a:extLst xmlns:a="http://schemas.openxmlformats.org/drawingml/2006/main">
              <a:ext uri="{FF2B5EF4-FFF2-40B4-BE49-F238E27FC236}">
                <a16:creationId xmlns:a16="http://schemas.microsoft.com/office/drawing/2014/main" id="{8688B4B0-F189-46F0-98B6-8E3BCDA5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51435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- dwg_to_esp300.py: DWG/DXF geometry를 읽고 ESP300 Python script와 notebook을 생성한다.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- visualizer_server.py: local HTTP API로 trace, plan, export, download를 처리한다.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- visualizer/app.js: 2D preview와 3D 유리판 이동 시뮬레이션을 렌더링한다.</a:t>
            </a:r>
          </a:p>
        </p:txBody>
      </p:sp>
      <p:sp>
        <p:nvSpPr>
          <p:cNvPr id="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B9EA6E6B-FE38-4A7A-9305-577BD96D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Run and outputs</a:t>
            </a:r>
          </a:p>
        </p:txBody>
      </p:sp>
      <p:sp>
        <p:nvSpPr>
          <p:cNvPr id="6" name="right-body">
            <a:extLst xmlns:a="http://schemas.openxmlformats.org/drawingml/2006/main">
              <a:ext uri="{FF2B5EF4-FFF2-40B4-BE49-F238E27FC236}">
                <a16:creationId xmlns:a16="http://schemas.microsoft.com/office/drawing/2014/main" id="{9DF149A8-8D1D-4856-80D0-04067375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0225"/>
            <a:ext cx="51435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- generated/: UI에서 export한 선택 경로별 ESP300 코드가 저장된다.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- launch_dwg_to_esp300.ps1: 바탕화면 바로가기에서 서버와 UI를 열기 위한 launcher이다.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ECDB0F3-BD0A-4EA5-A0C7-BDDD8639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3/11</a:t>
            </a:r>
          </a:p>
        </p:txBody>
      </p:sp>
    </p:spTree>
    <p:extLst>
      <p:ext uri="{BB962C8B-B14F-4D97-AF65-F5344CB8AC3E}">
        <p14:creationId xmlns:p14="http://schemas.microsoft.com/office/powerpoint/2010/main" val="478523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92508-9F8A-4028-8A7C-AE270EEF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DWG/DXF 변환 파이프라인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8268E40-CBEB-4F31-BE00-767959AD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47C75E1-1455-4DA0-B995-F228FA65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- 1. DWG 입력은 DXF로 변환하거나, DXF 입력은 그대로 사용한다.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- 2. ezdxf로 LINE, POLYLINE, ARC, SPLINE 등 geometry를 점열로 flatten한다.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- 3. design trace mode에서는 주석/전역 보조선으로 보이는 path를 걸러낸다.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- 4. 단위는 mm 기준으로 변환하고, 도면을 유리판 중심에 맞춘다.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- 5. 최종 scale은 중앙 사용 가능 원 안에 들어가도록 한 번 더 제한한다.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EC767BB-759B-4A4B-9942-51299BB2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4/11</a:t>
            </a:r>
          </a:p>
        </p:txBody>
      </p:sp>
    </p:spTree>
    <p:extLst>
      <p:ext uri="{BB962C8B-B14F-4D97-AF65-F5344CB8AC3E}">
        <p14:creationId xmlns:p14="http://schemas.microsoft.com/office/powerpoint/2010/main" val="943418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93E0F-1949-4300-A6E5-B02B30D8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경로 순서는 이동 거리 감소를 목표로 최적화한다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32783E-5743-460A-A9F9-CC06B92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446F275-691F-432D-B600-146ECAFD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초기 순서는 현재 위치에서 가장 가까운 path를 고르는 greedy 방식이다.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열린 path는 시작점과 끝점 중 현재 위치에 가까운 방향으로 뒤집을 수 있다.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닫힌 path는 현재 위치와 가장 가까운 점을 시작점으로 회전한다.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이후 제한적인 local search로 순서를 개선한다.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따라서 전역 최단 경로 보장은 아니지만, 실험용 travel 감소 heuristic으로 동작한다.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A2BBEBA-959F-4179-816E-538AAD1C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5/11</a:t>
            </a:r>
          </a:p>
        </p:txBody>
      </p:sp>
    </p:spTree>
    <p:extLst>
      <p:ext uri="{BB962C8B-B14F-4D97-AF65-F5344CB8AC3E}">
        <p14:creationId xmlns:p14="http://schemas.microsoft.com/office/powerpoint/2010/main" val="1560996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D71046-7A3A-41D7-BBFA-3445FF1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passes가 2 이상일 때 이동 끝점을 고려한다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FF8E3F0-196C-4425-B0E4-1E22A40C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2FD7489-EED4-46BC-AEC0-319BF0F1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각 path의 pass count는 UI 또는 실행 인자로 지정된다.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열린 path는 pass마다 forward/backward를 번갈아 사용해 불필요한 되돌아가기를 줄인다.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닫힌 path는 같은 폐곡선 방향을 반복해도 끝점이 시작점과 같으므로 안정적이다.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visualizer_server.py는 pass 이후 예상 endpoint를 계산해 다음 path 순서 최적화에 반영한다.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생성된 script도 같은 alternating-pass 규칙으로 실제 move를 실행한다.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38B40C7-AF39-43F7-A6E6-806D985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6/11</a:t>
            </a:r>
          </a:p>
        </p:txBody>
      </p:sp>
    </p:spTree>
    <p:extLst>
      <p:ext uri="{BB962C8B-B14F-4D97-AF65-F5344CB8AC3E}">
        <p14:creationId xmlns:p14="http://schemas.microsoft.com/office/powerpoint/2010/main" val="599388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771D0D-E3F2-437D-A54A-75D473AE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ESP300 명령은 축별 absolute move와 position wait로 구성된다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B9CE7B-8BE8-41A1-9078-B51E3338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AFA1625-CE92-485B-8D65-25551DF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축 번호는 X=1, Y=2, Z=3으로 정의된다.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기본 명령 패턴은 MO, VA, PA, TP이다.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move_abs()는 PA 명령, set_velocity()는 VA 명령을 보낸다.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get_position()은 TP 응답을 읽고 빈 응답 또는 파싱 실패 시 5회 재시도한다.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wait_xy_position()과 wait_axis_position()은 목표 좌표 도달 여부를 position tolerance로 확인한다.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2387274-4B60-4688-9782-AE802D21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7/11</a:t>
            </a:r>
          </a:p>
        </p:txBody>
      </p:sp>
    </p:spTree>
    <p:extLst>
      <p:ext uri="{BB962C8B-B14F-4D97-AF65-F5344CB8AC3E}">
        <p14:creationId xmlns:p14="http://schemas.microsoft.com/office/powerpoint/2010/main" val="1059984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3B550C-BD7E-4AF3-91BF-2848978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X/Y 동기화는 같은 도착 시간을 만들도록 계산한다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8E321B-82FA-4B02-BA9D-DE91670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49953B6-FA7D-4A8F-8F8E-72DCC503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직선 segment의 전체 이동 시간은 vector distance / command speed로 계산한다.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X축 속도는 abs(dx) / move_time, Y축 속도는 abs(dy) / move_time로 설정한다.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두 축의 PA 명령은 거의 연속으로 전송되어 같은 시간에 목표점에 도달하도록 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position wait mode에서는 TP 기반으로 실제 도달을 확인한다.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Y축 관련 짧은 멈춤/드리프트 완화를 위해 travel 이후 추가 settle time을 둔다.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E764CF4-852F-4DA6-B2B7-F3F86E75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8/11</a:t>
            </a:r>
          </a:p>
        </p:txBody>
      </p:sp>
    </p:spTree>
    <p:extLst>
      <p:ext uri="{BB962C8B-B14F-4D97-AF65-F5344CB8AC3E}">
        <p14:creationId xmlns:p14="http://schemas.microsoft.com/office/powerpoint/2010/main" val="2145782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0668C0-6D62-4D5D-9E75-E19679E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Laser-off travel에서는 유리판 Z를 defocus한다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EE2BA0-DC85-42D3-9725-589AC05C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C2E9DA7-7289-4CF1-82DA-74D63E22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다음 cut 시작점까지 XY travel이 필요할 때만 laser off와 Z defocus를 수행한다.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기본 defocus는 focus_z에서 1 mm 이동하며, 이동 시간은 Z speed로 계산된다.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Z 이동 후에는 position wait 또는 sleep wait를 적용하고 settle time을 둔다.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연속된 cut 구간 또는 같은 위치에서 다시 자르는 경우에는 굳이 Z를 바꾸지 않는다.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마지막 종료 단계에서도 laser off 후 defocus 위치로 이동해 안전 상태로 마무리한다.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947163-602A-4E57-9EEF-6AD3A9E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9/11</a:t>
            </a:r>
          </a:p>
        </p:txBody>
      </p:sp>
    </p:spTree>
    <p:extLst>
      <p:ext uri="{BB962C8B-B14F-4D97-AF65-F5344CB8AC3E}">
        <p14:creationId xmlns:p14="http://schemas.microsoft.com/office/powerpoint/2010/main" val="1144694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6FF54-0596-42DB-B21D-1015F38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Visualizer는 계획과 실제 코드 생성을 연결한다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6D1CD9-43E1-4812-9DFC-3083AFCF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65B26CA-3D48-467D-B262-333026D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- 2D panel은 도면 경로, 중앙 사용 가능 원, 진행된 cut/travel segment를 표시한다.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- 3D panel은 고정 레이저 아래에서 유리판과 도면이 X/Y/Z로 움직이는 모습을 보여준다.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사용자는 path 선택, pass count, feed/travel/Z speed, optimize 여부를 조정할 수 있다.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/api/plan은 선택된 경로를 motion segment로 만들고, /api/export는 ESP300 script를 생성한다.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현재 UI는 2D와 3D를 좌우 배치하여 공간 활용과 가시성을 개선했다.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A93A82A-AB04-4931-A6CA-0D1F0410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10/11</a:t>
            </a:r>
          </a:p>
        </p:txBody>
      </p:sp>
    </p:spTree>
    <p:extLst>
      <p:ext uri="{BB962C8B-B14F-4D97-AF65-F5344CB8AC3E}">
        <p14:creationId xmlns:p14="http://schemas.microsoft.com/office/powerpoint/2010/main" val="615798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687207-7800-4FB9-B7A4-F6F11D64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검증 상태와 실제 실행 전 확인 사항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9DFF7D-FD7B-43B1-A1C4-82C0617E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71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303A5EF-6411-4FCD-8CF2-66B7041F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481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Python compile check와 JavaScript parser check를 통과했다.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생성된 2-pass path는 25 mm 중앙 원 안에 margin 0.05 mm 조건으로 배치된다.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TP read retry, empty TP handling, travel/Z settle time 보강이 반영되어 있다.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Live run 전에는 dry-run 출력, visualizer path, mechanical zero, sample mounting을 확인해야 한다.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- 남은 한계: 최적화는 heuristic이며, 실제 레이저 TTL 제어는 장비 연결 방식에 맞춰 별도 검증이 필요하다.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6F9C0D-3031-486D-92B3-452AE057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</a:rPr>
              <a:t>DWG to ESP300 code overview | 11/11</a:t>
            </a:r>
          </a:p>
        </p:txBody>
      </p:sp>
    </p:spTree>
    <p:extLst>
      <p:ext uri="{BB962C8B-B14F-4D97-AF65-F5344CB8AC3E}">
        <p14:creationId xmlns:p14="http://schemas.microsoft.com/office/powerpoint/2010/main" val="1011371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2026-08-15T12:43:27.5940000Z</dcterms:created>
  <dcterms:modified xsi:type="dcterms:W3CDTF">2026-08-15T12:43:27.5940000Z</dcterms:modified>
</coreProperties>
</file>